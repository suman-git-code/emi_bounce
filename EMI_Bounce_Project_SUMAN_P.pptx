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Bounce rate %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&lt;1</c:v>
                  </c:pt>
                  <c:pt idx="1">
                    <c:v>1-1.5</c:v>
                  </c:pt>
                  <c:pt idx="2">
                    <c:v>1.5-2.1</c:v>
                  </c:pt>
                  <c:pt idx="3">
                    <c:v>2.1-2.7</c:v>
                  </c:pt>
                  <c:pt idx="4">
                    <c:v>2.7-3.5</c:v>
                  </c:pt>
                  <c:pt idx="5">
                    <c:v>3.5-4.4</c:v>
                  </c:pt>
                  <c:pt idx="6">
                    <c:v>4.4-5.7</c:v>
                  </c:pt>
                  <c:pt idx="7">
                    <c:v>5.7-7.8</c:v>
                  </c:pt>
                  <c:pt idx="8">
                    <c:v>7.8-11.9</c:v>
                  </c:pt>
                  <c:pt idx="9">
                    <c:v>&gt;11.9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25.3</c:v>
                </c:pt>
                <c:pt idx="1">
                  <c:v>13.4</c:v>
                </c:pt>
                <c:pt idx="2">
                  <c:v>9.1</c:v>
                </c:pt>
                <c:pt idx="3">
                  <c:v>6.8</c:v>
                </c:pt>
                <c:pt idx="4">
                  <c:v>5.1</c:v>
                </c:pt>
                <c:pt idx="5">
                  <c:v>3.8</c:v>
                </c:pt>
                <c:pt idx="6">
                  <c:v>3</c:v>
                </c:pt>
                <c:pt idx="7">
                  <c:v>2</c:v>
                </c:pt>
                <c:pt idx="8">
                  <c:v>1.2</c:v>
                </c:pt>
                <c:pt idx="9">
                  <c:v>0.6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Balance / EMI (10 equal groups)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EMI Bounce Likelihood Model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</a:rPr>
              <a:t>Internship Project, Canara Bank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SUMAN 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Built on a synthetic dataset matching the bank's schema (real data could not be shared). Results demonstrate the method, not real-customer performance.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Problem and objective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Goal: predict the probability of a near-term EMI bounce for each borrower, before the due date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bounce happens when the balance is too low on the EMI date; it adds penalties and pushes customers towards SMA and NPA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Output: a risk score and probability per account, so collections can act early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Type: binary classification (TARGET_BOUNCE = 1 or 0); only about 7% of accounts bounce, so accuracy is not a suitable metric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Data and cleaning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200,000 standard loan accounts, 16 columns (balances, EMI, utilization, credit movements, target)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Removed 400 duplicate rows; fixed data types; rebuilt missing utilization from outstanding / sanctioned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Missing balances flagged and filled with the median inside the pipeline, after the train/test split (no leakage)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FY balances above 10x the quarterly balance treated as errors (cross-checked); overdrawn accounts (0.6%) kept, as they carry real risk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EDA: bouncers hold less money and have less activity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Median per account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Paid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Bounced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Avg balance, previous month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INR 55,217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INR 20,625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Utilization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63.5%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72.6%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Credit movements (1 month)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Loan age (months)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No single raw feature separates the two groups perfectly, so ratio features and a model are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Key feature: how many EMIs the balance covers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0" y="164592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40x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bounce rate for balance under 1 EMI than above 12 EMIs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Five models compared; all tied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5544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 (test set)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Top 20% captures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LightGBM (final)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0.810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0.293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61.6%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LightGBM (tuned)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0.810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0.291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61.2%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0.809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0.286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61.2%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Also tested Random Forest, Gradient Boosting, XGBoost with customer-grouped cross-validation: differences were within noise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Chose LightGBM: marginally best, handles missing values, fast to score; Logistic Regression kept as the explainable benchmark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560320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6459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0.81</a:t>
            </a:r>
            <a:endParaRPr lang="en-US" sz="4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ROC-AUC</a:t>
            </a:r>
            <a:endParaRPr lang="en-US" sz="4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 bouncer outranks a non-bouncer 81% of the time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91840" y="1463040"/>
            <a:ext cx="2560320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29000" y="16459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0.29</a:t>
            </a:r>
            <a:endParaRPr lang="en-US" sz="4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PR-AUC</a:t>
            </a:r>
            <a:endParaRPr lang="en-US" sz="4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About 4x better than random (0.07)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2560320" cy="2743200"/>
          </a:xfrm>
          <a:prstGeom prst="rect">
            <a:avLst/>
          </a:prstGeom>
          <a:solidFill>
            <a:schemeClr val="bg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164592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62%</a:t>
            </a:r>
            <a:endParaRPr lang="en-US" sz="4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of bouncers reached</a:t>
            </a:r>
            <a:endParaRPr lang="en-US" sz="4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by contacting only the top 20% of customers (3x lift)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Scores calibrated: average predicted bounce rate 35.8% before, 7.0% after (actual 7.0%).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Threshold and risk tiers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280160"/>
                <a:gridCol w="146304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Flag top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Bouncers caught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Lift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1,170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41.6%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29.2%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4.2x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20% (recommended)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1,733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61.6%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21.7%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3.1x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2,074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73.7%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17.3%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2.5x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37744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Accounts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Avg bounce probability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 (top 10%)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20,060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29.9%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Call before due date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19,588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13.6%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SMS reminder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LOW (80%)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160,352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3.4%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No action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Limitations and next steps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Synthetic data: models tie because the signal is simple; repeat the comparison on real bank data with a time-based split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Confirm the exact target definition and window, and that every feature is known before the due date (no leakage)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Set cut-offs from the bank's contact capacity, cost of a bounce and cost of a reminder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Monitor monthly: flag rate, bounce rate by tier, feature drift; recalibrate when needed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Delivered: Python scoring pipeline and an Oracle table (EMI_BOUNCE_SCORED) with queries for the collections team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555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I Bounce">
  <a:themeElements>
    <a:clrScheme name="EMI Bounce">
      <a:dk1>
        <a:srgbClr val="000000"/>
      </a:dk1>
      <a:lt1>
        <a:srgbClr val="FFFFFF"/>
      </a:lt1>
      <a:dk2>
        <a:srgbClr val="333333"/>
      </a:dk2>
      <a:lt2>
        <a:srgbClr val="F2F2F2"/>
      </a:lt2>
      <a:accent1>
        <a:srgbClr val="B03A2E"/>
      </a:accent1>
      <a:accent2>
        <a:srgbClr val="2E7D5B"/>
      </a:accent2>
      <a:accent3>
        <a:srgbClr val="7F7F7F"/>
      </a:accent3>
      <a:accent4>
        <a:srgbClr val="555555"/>
      </a:accent4>
      <a:accent5>
        <a:srgbClr val="A6A6A6"/>
      </a:accent5>
      <a:accent6>
        <a:srgbClr val="D9D9D9"/>
      </a:accent6>
      <a:hlink>
        <a:srgbClr val="000000"/>
      </a:hlink>
      <a:folHlink>
        <a:srgbClr val="555555"/>
      </a:folHlink>
    </a:clrScheme>
    <a:fontScheme name="EMI Boun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EMI Bounce Likelihood Model</dc:title>
  <dc:subject>PptxGenJS Presentation</dc:subject>
  <dc:creator>SUMAN P</dc:creator>
  <cp:lastModifiedBy>SUMAN P</cp:lastModifiedBy>
  <cp:revision>1</cp:revision>
  <dcterms:created xsi:type="dcterms:W3CDTF">2026-10-15T07:42:21Z</dcterms:created>
  <dcterms:modified xsi:type="dcterms:W3CDTF">2026-10-15T07:42:21Z</dcterms:modified>
</cp:coreProperties>
</file>